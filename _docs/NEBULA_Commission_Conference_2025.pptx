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74152" y="-914400"/>
            <a:ext cx="5486400" cy="5486400"/>
          </a:xfrm>
          <a:prstGeom prst="ellipse">
            <a:avLst/>
          </a:prstGeom>
          <a:solidFill>
            <a:srgbClr val="2D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1A0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3385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NEBULA AGENCY — PARTENARIAT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PROGRAMME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7772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8B5CF6"/>
                </a:solidFill>
                <a:latin typeface="Calibri"/>
              </a:rPr>
              <a:t>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Vendez des vitrines digitales &amp; construisez un réseau qui travaille pour vous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72000"/>
            <a:ext cx="2194560" cy="14630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572000"/>
            <a:ext cx="21945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  <a:latin typeface="Calibri"/>
              </a:rPr>
              <a:t>25% → 35%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Commission directe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4572000"/>
            <a:ext cx="2194560" cy="14630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0" y="4572000"/>
            <a:ext cx="21945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8B5CF6"/>
                </a:solidFill>
                <a:latin typeface="Calibri"/>
              </a:rPr>
              <a:t>3 niveaux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257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Revenus de réseau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572000"/>
            <a:ext cx="2194560" cy="146304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4572000"/>
            <a:ext cx="21945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663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  <a:latin typeface="Calibri"/>
              </a:rPr>
              <a:t>48h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25780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Délai de paiement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 / 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  <a:latin typeface="Calibri"/>
              </a:rPr>
              <a:t>AU PROGRAMME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Ce que vous allez découvrir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3566160" cy="137160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4864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38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Les 3 paliers de 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STARTER, SILVER, GOLD — comment progresser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828800"/>
            <a:ext cx="3566160" cy="137160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4528" y="1828800"/>
            <a:ext cx="54864" cy="1371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938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8B5CF6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395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 réseau 3 niveaux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7249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N1, N2, N3 — gagner sans vendre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828800"/>
            <a:ext cx="3566160" cy="137160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1828800"/>
            <a:ext cx="54864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93852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39572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Exemple concret — Shad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72491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L'arbre réseau et les gains réels du mois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383280"/>
            <a:ext cx="3566160" cy="137160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54864" cy="1371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93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C4899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502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Ce que Marc gagne en passif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2793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Le pouvoir des revenus résiduels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383280"/>
            <a:ext cx="3566160" cy="137160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338328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3493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0B981"/>
                </a:solidFill>
                <a:latin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39502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Simulation de vos revenus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42793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 débutant à GOLD Élite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1856" y="3383280"/>
            <a:ext cx="3566160" cy="137160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91856" y="3383280"/>
            <a:ext cx="54864" cy="1371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34930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B6D4"/>
                </a:solidFill>
                <a:latin typeface="Calibri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74736" y="39502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Rejoindre NEBULA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4279392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Inscription gratuite — formation incluse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2 /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01 — VOS PALIERS DE COMMISSION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Plus vous vendez, plus votre taux monte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566160" cy="47548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3566160" cy="7315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828800" y="196596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02082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1A"/>
                </a:solidFill>
                <a:latin typeface="Calibri"/>
              </a:rPr>
              <a:t>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7296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3B82F6"/>
                </a:solidFill>
                <a:latin typeface="Calibri"/>
              </a:rPr>
              <a:t>25%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8736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056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B82F6"/>
                </a:solidFill>
                <a:latin typeface="Calibri"/>
              </a:rPr>
              <a:t>0 – 2 ventes/mois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44568"/>
            <a:ext cx="3017520" cy="13716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9087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9264" y="46908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Commission immédiate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08406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508406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Paiement en 48h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7725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547725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Formation gratuite incluse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7044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587044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Accès aux outils NEBULA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24528" y="1691640"/>
            <a:ext cx="3566160" cy="47548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24528" y="1691640"/>
            <a:ext cx="3566160" cy="73152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596128" y="1965960"/>
            <a:ext cx="822960" cy="82296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96128" y="202082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1A"/>
                </a:solidFill>
                <a:latin typeface="Calibri"/>
              </a:rPr>
              <a:t>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24528" y="2743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SILVER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24528" y="317296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94A3B8"/>
                </a:solidFill>
                <a:latin typeface="Calibri"/>
              </a:rPr>
              <a:t>30%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90288" y="408736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90288" y="41056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4A3B8"/>
                </a:solidFill>
                <a:latin typeface="Calibri"/>
              </a:rPr>
              <a:t>3 – 6 ventes/mois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98848" y="4544568"/>
            <a:ext cx="3017520" cy="13716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8" y="469087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46908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+5 pts par rapport au STARTER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508406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508406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Badge partenaire SILVER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547725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547725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Support prioritaire WhatsApp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3128" y="587044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4A3B8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587044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Tableau de bord personnel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1856" y="1691640"/>
            <a:ext cx="3566160" cy="47548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991856" y="1691640"/>
            <a:ext cx="3566160" cy="731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363456" y="196596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63456" y="2020824"/>
            <a:ext cx="82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A1A"/>
                </a:solidFill>
                <a:latin typeface="Calibri"/>
              </a:rPr>
              <a:t>♛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91856" y="2743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GOLD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91856" y="3172968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59E0B"/>
                </a:solidFill>
                <a:latin typeface="Calibri"/>
              </a:rPr>
              <a:t>35%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57616" y="4087368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57616" y="4105656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  <a:latin typeface="Calibri"/>
              </a:rPr>
              <a:t>7+ ventes/mois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66176" y="4544568"/>
            <a:ext cx="3017520" cy="13716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0456" y="4690872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4690872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Commission maximale 35%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0456" y="5084064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5084064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Bonus trimestriel exclusif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0456" y="5477256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5477256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Accès VIP événements NEBULA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0456" y="5870448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587044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FAFC"/>
                </a:solidFill>
                <a:latin typeface="Calibri"/>
              </a:rPr>
              <a:t>Mentorat individuel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01 — EN CHIFFRES RÉELS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Sur une vitrine à 150 000 FCFA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291840" cy="228600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3291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B82F6"/>
                </a:solidFill>
                <a:latin typeface="Calibri"/>
              </a:rPr>
              <a:t>STARTER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25%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sur vos ventes directes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584448"/>
            <a:ext cx="2743200" cy="49377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1A"/>
                </a:solidFill>
                <a:latin typeface="Calibri"/>
              </a:rPr>
              <a:t>37 500 FCFA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920240"/>
            <a:ext cx="3291840" cy="228600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53128" y="1920240"/>
            <a:ext cx="3291840" cy="54864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210312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Calibri"/>
              </a:rPr>
              <a:t>SILVER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sur vos ventes directes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7448" y="3584448"/>
            <a:ext cx="2743200" cy="493776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27448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1A"/>
                </a:solidFill>
                <a:latin typeface="Calibri"/>
              </a:rPr>
              <a:t>45 000 FCFA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4736" y="1920240"/>
            <a:ext cx="3291840" cy="228600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4736" y="192024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74736" y="2103120"/>
            <a:ext cx="329184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59E0B"/>
                </a:solidFill>
                <a:latin typeface="Calibri"/>
              </a:rPr>
              <a:t>GOLD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74736" y="25146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32004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sur vos ventes directes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49056" y="3584448"/>
            <a:ext cx="2743200" cy="49377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365760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1A"/>
                </a:solidFill>
                <a:latin typeface="Calibri"/>
              </a:rPr>
              <a:t>52 500 FCFA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B5CF6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B5CF6"/>
                </a:solidFill>
                <a:latin typeface="Calibr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663440"/>
            <a:ext cx="3566160" cy="164592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1520" y="4663440"/>
            <a:ext cx="54864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846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Paiement garanti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Sous 48h après validation de la vente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08576" y="4663440"/>
            <a:ext cx="3566160" cy="164592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08576" y="4663440"/>
            <a:ext cx="54864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1456" y="4846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Commission directe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6" y="5257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Créditée sur votre compte dès la confirmation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85632" y="4663440"/>
            <a:ext cx="3566160" cy="164592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85632" y="4663440"/>
            <a:ext cx="54864" cy="16459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2" y="48463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Palier recalculé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5257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Chaque 1er du mois selon vos ventes du mois précédent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02 — REVENUS DE RÉSEAU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Gagnez même quand vous ne vendez 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4A3B8"/>
                </a:solidFill>
                <a:latin typeface="Calibri"/>
              </a:rPr>
              <a:t>Chaque personne que vous recrutez dans le réseau NEBULA
vous génère des commissions sur TOUTES ses ventes — automatiquement.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06040"/>
            <a:ext cx="3657600" cy="33832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05840" y="283464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4378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A"/>
                </a:solidFill>
                <a:latin typeface="Calibri"/>
              </a:rPr>
              <a:t>N1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8529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8B5CF6"/>
                </a:solidFill>
                <a:latin typeface="Calibri"/>
              </a:rPr>
              <a:t>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Ventes de vos filleuls directs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Personnes que vous avez recrutées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0120" y="4480559"/>
            <a:ext cx="3200400" cy="13716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61772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Sur une vente de 150 000 F 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937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8B5CF6"/>
                </a:solidFill>
                <a:latin typeface="Calibri"/>
              </a:rPr>
              <a:t>+ 7 500 FCFA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458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pour vous, automatiquement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2606040"/>
            <a:ext cx="3657600" cy="33832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283464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284378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A"/>
                </a:solidFill>
                <a:latin typeface="Calibri"/>
              </a:rPr>
              <a:t>N2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28529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  <a:latin typeface="Calibri"/>
              </a:rPr>
              <a:t>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Ventes des filleuls de vos filleuls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Niveau 2 de profondeur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4480559"/>
            <a:ext cx="3200400" cy="13716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461772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Sur une vente de 150 000 F 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4937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B82F6"/>
                </a:solidFill>
                <a:latin typeface="Calibri"/>
              </a:rPr>
              <a:t>+ 4 500 FCFA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458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pour vous, automatiquement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2606040"/>
            <a:ext cx="3657600" cy="33832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55280" y="283464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80" y="2843784"/>
            <a:ext cx="640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0A1A"/>
                </a:solidFill>
                <a:latin typeface="Calibri"/>
              </a:rPr>
              <a:t>N3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852928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0B981"/>
                </a:solidFill>
                <a:latin typeface="Calibri"/>
              </a:rPr>
              <a:t>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09560" y="33832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Ventes au 3ème niveau de profondeur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840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Le réseau travaille pour vous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09560" y="4480559"/>
            <a:ext cx="3200400" cy="13716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4617720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Sur une vente de 150 000 F 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4937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  <a:latin typeface="Calibri"/>
              </a:rPr>
              <a:t>+ 3 000 FCFA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545896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pour vous, automatiquement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730A3"/>
                </a:solidFill>
                <a:latin typeface="Calibri"/>
              </a:rPr>
              <a:t>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730A3"/>
                </a:solidFill>
                <a:latin typeface="Calibri"/>
              </a:rPr>
              <a:t>+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5 /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03 — L'ARBRE RÉSEAU DE SHAD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Visualisez comment les commissions circulent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00200"/>
            <a:ext cx="11430000" cy="49834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6080760" y="2734056"/>
            <a:ext cx="0" cy="475488"/>
          </a:xfrm>
          <a:prstGeom prst="line">
            <a:avLst/>
          </a:prstGeom>
          <a:ln w="25400">
            <a:solidFill>
              <a:srgbClr val="8B5C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577840" y="2852928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2862072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5CF6"/>
                </a:solidFill>
                <a:latin typeface="Calibri"/>
              </a:rPr>
              <a:t>N1 → 5%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840480" y="4197096"/>
            <a:ext cx="2240280" cy="585216"/>
          </a:xfrm>
          <a:prstGeom prst="line">
            <a:avLst/>
          </a:prstGeom>
          <a:ln w="25400">
            <a:solidFill>
              <a:srgbClr val="3B8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57700" y="43708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7700" y="43799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B82F6"/>
                </a:solidFill>
                <a:latin typeface="Calibri"/>
              </a:rPr>
              <a:t>N1 → 5%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197096"/>
            <a:ext cx="2240280" cy="585216"/>
          </a:xfrm>
          <a:prstGeom prst="line">
            <a:avLst/>
          </a:prstGeom>
          <a:ln w="25400">
            <a:solidFill>
              <a:srgbClr val="EC48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697980" y="437083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7980" y="437997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EC4899"/>
                </a:solidFill>
                <a:latin typeface="Calibri"/>
              </a:rPr>
              <a:t>N1 → 5%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560320" y="5550408"/>
            <a:ext cx="1280160" cy="530352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697480" y="5696712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80" y="5705856"/>
            <a:ext cx="1005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0B981"/>
                </a:solidFill>
                <a:latin typeface="Calibri"/>
              </a:rPr>
              <a:t>N2 → 3%</a:t>
            </a:r>
          </a:p>
        </p:txBody>
      </p:sp>
      <p:sp>
        <p:nvSpPr>
          <p:cNvPr id="19" name="Oval 18"/>
          <p:cNvSpPr/>
          <p:nvPr/>
        </p:nvSpPr>
        <p:spPr>
          <a:xfrm>
            <a:off x="5696712" y="1947672"/>
            <a:ext cx="768096" cy="768096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96712" y="2204720"/>
            <a:ext cx="7680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275234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MARC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299008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B5CF6"/>
                </a:solidFill>
                <a:latin typeface="Calibri"/>
              </a:rPr>
              <a:t>Votre recruteur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32120" y="3154680"/>
            <a:ext cx="1097280" cy="1097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05272" y="3227832"/>
            <a:ext cx="950976" cy="95097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05272" y="3576320"/>
            <a:ext cx="95097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21538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60" y="44531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59E0B"/>
                </a:solidFill>
                <a:latin typeface="Calibri"/>
              </a:rPr>
              <a:t>SILVER — 30%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64808" y="3136392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313639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A0A1A"/>
                </a:solidFill>
                <a:latin typeface="Calibri"/>
              </a:rPr>
              <a:t>VOUS</a:t>
            </a:r>
          </a:p>
        </p:txBody>
      </p:sp>
      <p:sp>
        <p:nvSpPr>
          <p:cNvPr id="30" name="Oval 29"/>
          <p:cNvSpPr/>
          <p:nvPr/>
        </p:nvSpPr>
        <p:spPr>
          <a:xfrm>
            <a:off x="3474720" y="4800600"/>
            <a:ext cx="731520" cy="7315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503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568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PAUL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8064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B82F6"/>
                </a:solidFill>
                <a:latin typeface="Calibri"/>
              </a:rPr>
              <a:t>STARTER — 25%</a:t>
            </a:r>
          </a:p>
        </p:txBody>
      </p:sp>
      <p:sp>
        <p:nvSpPr>
          <p:cNvPr id="34" name="Oval 33"/>
          <p:cNvSpPr/>
          <p:nvPr/>
        </p:nvSpPr>
        <p:spPr>
          <a:xfrm>
            <a:off x="7955280" y="4800600"/>
            <a:ext cx="731520" cy="7315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50393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568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MIA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5806440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C4899"/>
                </a:solidFill>
                <a:latin typeface="Calibri"/>
              </a:rPr>
              <a:t>STARTER — 25%</a:t>
            </a:r>
          </a:p>
        </p:txBody>
      </p:sp>
      <p:sp>
        <p:nvSpPr>
          <p:cNvPr id="38" name="Oval 37"/>
          <p:cNvSpPr/>
          <p:nvPr/>
        </p:nvSpPr>
        <p:spPr>
          <a:xfrm>
            <a:off x="2258568" y="6099048"/>
            <a:ext cx="603504" cy="60350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58568" y="6273800"/>
            <a:ext cx="60350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67391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KOFI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697687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0B981"/>
                </a:solidFill>
                <a:latin typeface="Calibri"/>
              </a:rPr>
              <a:t>STARTER — 25%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4748B"/>
                </a:solidFill>
                <a:latin typeface="Calibri"/>
              </a:rPr>
              <a:t>LÉGENDE</a:t>
            </a:r>
          </a:p>
        </p:txBody>
      </p:sp>
      <p:sp>
        <p:nvSpPr>
          <p:cNvPr id="43" name="Oval 42"/>
          <p:cNvSpPr/>
          <p:nvPr/>
        </p:nvSpPr>
        <p:spPr>
          <a:xfrm>
            <a:off x="10515600" y="228600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89920" y="22677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Recruteur N0</a:t>
            </a:r>
          </a:p>
        </p:txBody>
      </p:sp>
      <p:sp>
        <p:nvSpPr>
          <p:cNvPr id="45" name="Oval 44"/>
          <p:cNvSpPr/>
          <p:nvPr/>
        </p:nvSpPr>
        <p:spPr>
          <a:xfrm>
            <a:off x="10515600" y="2834640"/>
            <a:ext cx="201168" cy="20116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89920" y="28163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Vous (SILVER)</a:t>
            </a:r>
          </a:p>
        </p:txBody>
      </p:sp>
      <p:sp>
        <p:nvSpPr>
          <p:cNvPr id="47" name="Oval 46"/>
          <p:cNvSpPr/>
          <p:nvPr/>
        </p:nvSpPr>
        <p:spPr>
          <a:xfrm>
            <a:off x="10515600" y="3383280"/>
            <a:ext cx="201168" cy="20116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789920" y="33649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Filleul direct N1</a:t>
            </a:r>
          </a:p>
        </p:txBody>
      </p:sp>
      <p:sp>
        <p:nvSpPr>
          <p:cNvPr id="49" name="Oval 48"/>
          <p:cNvSpPr/>
          <p:nvPr/>
        </p:nvSpPr>
        <p:spPr>
          <a:xfrm>
            <a:off x="10515600" y="3931920"/>
            <a:ext cx="201168" cy="20116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789920" y="39136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8FAFC"/>
                </a:solidFill>
                <a:latin typeface="Calibri"/>
              </a:rPr>
              <a:t>Filleul N2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03 — CE QUE SHAD GAGNE CE MOIS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5 ventes directes + réseau actif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972800" cy="8686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74519"/>
            <a:ext cx="54864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39111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Ses 5 ventes directes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23159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32303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SILVER 30%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13055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5 × 45 000 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2441447"/>
            <a:ext cx="3474720" cy="16459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80" y="2441447"/>
            <a:ext cx="3474720" cy="16459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075687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9E0B"/>
                </a:solidFill>
                <a:latin typeface="Calibri"/>
              </a:rPr>
              <a:t>225 000 FCFA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852927"/>
            <a:ext cx="10972800" cy="8686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52927"/>
            <a:ext cx="54864" cy="8686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017519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Ventes de Paul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01567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10711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N1 — 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108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3 × 7 500 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419855"/>
            <a:ext cx="3474720" cy="16459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754880" y="3419855"/>
            <a:ext cx="347472" cy="164592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3054095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3B82F6"/>
                </a:solidFill>
                <a:latin typeface="Calibri"/>
              </a:rPr>
              <a:t>22 500 FCFA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831335"/>
            <a:ext cx="10972800" cy="8686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3831335"/>
            <a:ext cx="54864" cy="86868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995927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Ventes de Mia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379975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89119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N1 — 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087367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2 × 7 500 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4398263"/>
            <a:ext cx="3474720" cy="16459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54880" y="4398263"/>
            <a:ext cx="232806" cy="164592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032503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EC4899"/>
                </a:solidFill>
                <a:latin typeface="Calibri"/>
              </a:rPr>
              <a:t>15 000 FCFA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809743"/>
            <a:ext cx="10972800" cy="8686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809743"/>
            <a:ext cx="54864" cy="8686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74335"/>
            <a:ext cx="34747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Ventes de Kofi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5358383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367527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N2 — 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506577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2 × 4 500 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5376671"/>
            <a:ext cx="3474720" cy="16459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754880" y="5376671"/>
            <a:ext cx="138988" cy="164592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5010911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  <a:latin typeface="Calibri"/>
              </a:rPr>
              <a:t>9 000 FCFA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650992"/>
            <a:ext cx="10972800" cy="868680"/>
          </a:xfrm>
          <a:prstGeom prst="roundRect">
            <a:avLst>
              <a:gd name="adj" fmla="val 50000"/>
            </a:avLst>
          </a:prstGeom>
          <a:solidFill>
            <a:srgbClr val="3D2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0" y="5650992"/>
            <a:ext cx="109728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7607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TOTAL SHAD CE MOIS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760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800" b="1" i="0">
                <a:solidFill>
                  <a:srgbClr val="F59E0B"/>
                </a:solidFill>
                <a:latin typeface="Calibri"/>
              </a:rPr>
              <a:t>271 500 FCFA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Calibri"/>
              </a:rPr>
              <a:t>04 — LE REVENU PASSIF DE MARC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Marc n'a rien vendu ce mois — et il encaisse quand même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64208"/>
            <a:ext cx="10972800" cy="59436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FAFC"/>
                </a:solidFill>
                <a:latin typeface="Calibri"/>
              </a:rPr>
              <a:t>Marc a recruté Shad. Shad a recruté Paul et Mia. Paul a recruté Kofi. Marc touche des commissions sur toute la chaîne.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423160"/>
            <a:ext cx="10972800" cy="804672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423160"/>
            <a:ext cx="54864" cy="8046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511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Ventes de Shad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92608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930652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N1 — 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64261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5 × 7 500 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59689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F59E0B"/>
                </a:solidFill>
                <a:latin typeface="Calibri"/>
              </a:rPr>
              <a:t>37 500 FCFA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19272"/>
            <a:ext cx="10972800" cy="804672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319272"/>
            <a:ext cx="54864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4728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Ventes de Paul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822192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826764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N2 — 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53872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3 × 4 500 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493008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3B82F6"/>
                </a:solidFill>
                <a:latin typeface="Calibri"/>
              </a:rPr>
              <a:t>13 500 FCFA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215384"/>
            <a:ext cx="10972800" cy="804672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215384"/>
            <a:ext cx="54864" cy="80467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Ventes de Mia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718304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22876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N2 — 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4348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2 × 4 500 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389120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EC4899"/>
                </a:solidFill>
                <a:latin typeface="Calibri"/>
              </a:rPr>
              <a:t>9 000 FCFA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111496"/>
            <a:ext cx="10972800" cy="804672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111496"/>
            <a:ext cx="54864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951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Ventes de Kofi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614416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618988"/>
            <a:ext cx="118872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N3 — 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53309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2 × 3 000 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285232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 i="0">
                <a:solidFill>
                  <a:srgbClr val="10B981"/>
                </a:solidFill>
                <a:latin typeface="Calibri"/>
              </a:rPr>
              <a:t>6 000 FCFA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5742432"/>
            <a:ext cx="5303520" cy="82296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" y="5742432"/>
            <a:ext cx="53035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8338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4A3B8"/>
                </a:solidFill>
                <a:latin typeface="Calibri"/>
              </a:rPr>
              <a:t>TOTAL MARC (revenu passif)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6108192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8B5CF6"/>
                </a:solidFill>
                <a:latin typeface="Calibri"/>
              </a:rPr>
              <a:t>66 000 FCFA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5742432"/>
            <a:ext cx="5394960" cy="822960"/>
          </a:xfrm>
          <a:prstGeom prst="roundRect">
            <a:avLst>
              <a:gd name="adj" fmla="val 50000"/>
            </a:avLst>
          </a:prstGeom>
          <a:solidFill>
            <a:srgbClr val="0F0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58338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  <a:latin typeface="Calibri"/>
              </a:rPr>
              <a:t>💡  Sans faire une seule vente ce mois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6126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C'est le pouvoir des revenus résiduels de réseau.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8 / 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  <a:latin typeface="Calibri"/>
              </a:rPr>
              <a:t>05 — RÉPARTITION SUR UNE VENTE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Chaque vente de 150 000 FCFA est répartie ainsi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881360" cy="109728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011680"/>
            <a:ext cx="3808475" cy="10972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8084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1A"/>
                </a:solidFill>
                <a:latin typeface="Calibri"/>
              </a:rPr>
              <a:t>35%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8556" y="2011680"/>
            <a:ext cx="544068" cy="10972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92624" y="2011680"/>
            <a:ext cx="326440" cy="10972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19064" y="2011680"/>
            <a:ext cx="217627" cy="10972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536692" y="2011680"/>
            <a:ext cx="5984748" cy="1097280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36692" y="2331720"/>
            <a:ext cx="59847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A1A"/>
                </a:solidFill>
                <a:latin typeface="Calibri"/>
              </a:rPr>
              <a:t>55%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5174" y="3108960"/>
            <a:ext cx="18288" cy="1645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73552"/>
            <a:ext cx="38084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59E0B"/>
                </a:solidFill>
                <a:latin typeface="Calibri"/>
              </a:rPr>
              <a:t>Vendeur 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93592"/>
            <a:ext cx="380847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52 500 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11446" y="3108960"/>
            <a:ext cx="18288" cy="16459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09110" y="32735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B5CF6"/>
                </a:solidFill>
                <a:latin typeface="Calibri"/>
              </a:rPr>
              <a:t>N1 recruteur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9110" y="359359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7 500 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46700" y="3108960"/>
            <a:ext cx="18288" cy="1645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44364" y="32735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B82F6"/>
                </a:solidFill>
                <a:latin typeface="Calibri"/>
              </a:rPr>
              <a:t>N2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4364" y="359359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4 500 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18734" y="3108960"/>
            <a:ext cx="18288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6398" y="327355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0B981"/>
                </a:solidFill>
                <a:latin typeface="Calibri"/>
              </a:rPr>
              <a:t>N3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16398" y="359359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3 000 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9922" y="3108960"/>
            <a:ext cx="18288" cy="16459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6692" y="3273552"/>
            <a:ext cx="59847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C4899"/>
                </a:solidFill>
                <a:latin typeface="Calibri"/>
              </a:rPr>
              <a:t>NEBULA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6692" y="3593592"/>
            <a:ext cx="598474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82 500 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17720"/>
            <a:ext cx="3749039" cy="19659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4617720"/>
            <a:ext cx="3749039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782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Scénario : GOLD seul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18464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Vendeur + réseau sur 2 niveaux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8521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97 500 F gardés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28192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conservés par NEBULA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17135" y="4617720"/>
            <a:ext cx="3749039" cy="19659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17135" y="4617720"/>
            <a:ext cx="3749039" cy="4572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0015" y="4782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Scénario : SILVER + réseau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00015" y="518464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30% + 5% + 3% = 38% sortis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0015" y="58521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93 000 F gardés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0015" y="628192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conservés par NEBULA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77070" y="4617720"/>
            <a:ext cx="3749039" cy="19659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77070" y="4617720"/>
            <a:ext cx="3749039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59950" y="4782312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Scénario : STARTER + réseau complet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9950" y="5184648"/>
            <a:ext cx="3474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25% + 5% + 3% + 2% = 35%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50" y="58521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C4899"/>
                </a:solidFill>
                <a:latin typeface="Calibri"/>
              </a:rPr>
              <a:t>97 500 F gardés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59950" y="6281928"/>
            <a:ext cx="3474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conservés par NEBULA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9 / 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06 — SIMULEZ VOS REVENUS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Où pouvez-vous être dans 3 mois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28800"/>
            <a:ext cx="11338560" cy="1170432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38528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alibri"/>
              </a:rPr>
              <a:t>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Débutant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651760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56332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128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2 ventes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Calibri"/>
              </a:rPr>
              <a:t>60 000 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2316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/>
              </a:rPr>
              <a:t>+ 15 000 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22576"/>
            <a:ext cx="4114800" cy="20116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2322576"/>
            <a:ext cx="312724" cy="201168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0" y="2139696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64748B"/>
                </a:solidFill>
                <a:latin typeface="Calibri"/>
              </a:rPr>
              <a:t>75 000 FCFA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90672"/>
            <a:ext cx="11338560" cy="1170432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00400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B82F6"/>
                </a:solidFill>
                <a:latin typeface="Calibri"/>
              </a:rPr>
              <a:t>★★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529584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Actif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13632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918204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SILVER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3474720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5 ventes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273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Calibri"/>
              </a:rPr>
              <a:t>150 000 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68503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/>
              </a:rPr>
              <a:t>+ 45 000 F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584448"/>
            <a:ext cx="4114800" cy="20116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3584448"/>
            <a:ext cx="810615" cy="20116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3401568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3B82F6"/>
                </a:solidFill>
                <a:latin typeface="Calibri"/>
              </a:rPr>
              <a:t>195 000 FCFA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352544"/>
            <a:ext cx="11338560" cy="1170432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462272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B5CF6"/>
                </a:solidFill>
                <a:latin typeface="Calibri"/>
              </a:rPr>
              <a:t>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791456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Champion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175504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180076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4736592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10 ventes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45354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Calibri"/>
              </a:rPr>
              <a:t>300 000 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9469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/>
              </a:rPr>
              <a:t>+ 90 000 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846320"/>
            <a:ext cx="4114800" cy="20116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17920" y="4846320"/>
            <a:ext cx="1621231" cy="20116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663440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8B5CF6"/>
                </a:solidFill>
                <a:latin typeface="Calibri"/>
              </a:rPr>
              <a:t>390 000 FCFA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614416"/>
            <a:ext cx="11338560" cy="1170432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5614416"/>
            <a:ext cx="113385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724144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9E0B"/>
                </a:solidFill>
                <a:latin typeface="Calibri"/>
              </a:rPr>
              <a:t>♛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053328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GOLD Élite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6437376"/>
            <a:ext cx="1188720" cy="23774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6441948"/>
            <a:ext cx="1188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A1A"/>
                </a:solidFill>
                <a:latin typeface="Calibri"/>
              </a:rPr>
              <a:t>GOLD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51760" y="5998464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15 ventes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79729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8FAFC"/>
                </a:solidFill>
                <a:latin typeface="Calibri"/>
              </a:rPr>
              <a:t>787 500 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620877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6B6D4"/>
                </a:solidFill>
                <a:latin typeface="Calibri"/>
              </a:rPr>
              <a:t>+ 200 000 F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6108192"/>
            <a:ext cx="4114800" cy="201168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6217920" y="6108192"/>
            <a:ext cx="4114800" cy="20116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515600" y="5925312"/>
            <a:ext cx="11887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59E0B"/>
                </a:solidFill>
                <a:latin typeface="Calibri"/>
              </a:rPr>
              <a:t>987 500 FCFA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15544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PROFIL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51760" y="15544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VENTES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14800" y="15544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REVENUS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7920" y="15544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PROGRESSION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1554480"/>
            <a:ext cx="1828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Calibri"/>
              </a:rPr>
              <a:t>TOTAL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10 / 12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07 — POURQUOI NEBULA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Un produit qui se vend, un système qui paie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3566160" cy="17373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874519"/>
            <a:ext cx="45720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116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41447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Produit concret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52927"/>
            <a:ext cx="3154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Vous vendez des vraies vitrines web à de vraies PME. Pas un abonnement virtuel.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24528" y="1874519"/>
            <a:ext cx="3566160" cy="17373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4528" y="1874519"/>
            <a:ext cx="45720" cy="1737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20116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2441447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Marché immense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852927"/>
            <a:ext cx="3154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Des milliers de PME en Afrique de l'Ouest sans présence digitale. Demande réelle.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874519"/>
            <a:ext cx="3566160" cy="17373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1856" y="1874519"/>
            <a:ext cx="45720" cy="1737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6176" y="201167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6" y="2441447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Commission dès J+1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852927"/>
            <a:ext cx="3154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Vente validée le lundi → argent sur votre compte mercredi. Aucune attente.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94759"/>
            <a:ext cx="3566160" cy="17373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94759"/>
            <a:ext cx="45720" cy="17373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319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361687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Formation incluse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773167"/>
            <a:ext cx="3154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On vous forme à vendre, à pitcher, à suivre vos clients. Zéro expérience requise.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24528" y="3794759"/>
            <a:ext cx="3566160" cy="17373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4528" y="3794759"/>
            <a:ext cx="45720" cy="17373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98848" y="39319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♾️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361687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Réseau = rente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773167"/>
            <a:ext cx="3154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Chaque partenaire que vous recrutez grossit votre revenu mensuel automatiquement.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1856" y="3794759"/>
            <a:ext cx="3566160" cy="17373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91856" y="3794759"/>
            <a:ext cx="45720" cy="1737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66176" y="39319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latin typeface="Calibri"/>
              </a:rPr>
              <a:t>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6" y="4361687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Support WhatsApp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4773167"/>
            <a:ext cx="31546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Une équipe NEBULA dédiée répond 7j/7 à toutes vos questions de vente.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Structure des commissions — Confidentiel partenaires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11247120" cy="6080760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365760"/>
            <a:ext cx="1124712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4712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235440" y="-182879"/>
            <a:ext cx="2560320" cy="2560320"/>
          </a:xfrm>
          <a:prstGeom prst="ellipse">
            <a:avLst/>
          </a:prstGeom>
          <a:solidFill>
            <a:srgbClr val="2D1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3D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869680" y="5486400"/>
            <a:ext cx="1463040" cy="1463040"/>
          </a:xfrm>
          <a:prstGeom prst="ellipse">
            <a:avLst/>
          </a:prstGeom>
          <a:solidFill>
            <a:srgbClr val="1A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114800" y="100584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10424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🚀  REJOIGNEZ NEBULA AGENCY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60020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Commencez à gagner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14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8B5CF6"/>
                </a:solidFill>
                <a:latin typeface="Calibri"/>
              </a:rPr>
              <a:t>dès votre 1ère vente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Inscription gratuite  •  Formation incluse  •  Paiement sous 48h  •  Réseau illimité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4251960"/>
            <a:ext cx="3200400" cy="12801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" y="4251960"/>
            <a:ext cx="32004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38912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0B981"/>
                </a:solidFill>
                <a:latin typeface="Calibri"/>
              </a:rPr>
              <a:t>WhatsApp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18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alibri"/>
              </a:rPr>
              <a:t>+229 97 XX XX XX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4251960"/>
            <a:ext cx="3200400" cy="12801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4251960"/>
            <a:ext cx="3200400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37760" y="438912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B6D4"/>
                </a:solidFill>
                <a:latin typeface="Calibri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818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alibri"/>
              </a:rPr>
              <a:t>contact@nebula-agency.com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95360" y="4251960"/>
            <a:ext cx="3200400" cy="1280160"/>
          </a:xfrm>
          <a:prstGeom prst="roundRect">
            <a:avLst>
              <a:gd name="adj" fmla="val 50000"/>
            </a:avLst>
          </a:prstGeom>
          <a:solidFill>
            <a:srgbClr val="13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4251960"/>
            <a:ext cx="32004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389120"/>
            <a:ext cx="3200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B5CF6"/>
                </a:solidFill>
                <a:latin typeface="Calibri"/>
              </a:rPr>
              <a:t>Inscription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481888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8FAFC"/>
                </a:solidFill>
                <a:latin typeface="Calibri"/>
              </a:rPr>
              <a:t>nebula-agency.com/partenaire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669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  <a:latin typeface="Calibri"/>
              </a:rPr>
              <a:t>"Le meilleur moment pour planter un arbre, c'était hier. Le second meilleur moment, c'est maintenant."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4320" y="6419088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419088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NEBULA AGENCY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1672" y="64190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77440" y="6419088"/>
            <a:ext cx="85313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NEBULA Agency — Cotonou, Bénin — Afrique de l'Ouest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